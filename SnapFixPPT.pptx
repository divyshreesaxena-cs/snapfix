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  <p:sldMasterId id="2147483683" r:id="rId5"/>
  </p:sldMasterIdLst>
  <p:notesMasterIdLst>
    <p:notesMasterId r:id="rId16"/>
  </p:notesMasterIdLst>
  <p:handoutMasterIdLst>
    <p:handoutMasterId r:id="rId17"/>
  </p:handoutMasterIdLst>
  <p:sldIdLst>
    <p:sldId id="317" r:id="rId6"/>
    <p:sldId id="307" r:id="rId7"/>
    <p:sldId id="258" r:id="rId8"/>
    <p:sldId id="259" r:id="rId9"/>
    <p:sldId id="309" r:id="rId10"/>
    <p:sldId id="263" r:id="rId11"/>
    <p:sldId id="310" r:id="rId12"/>
    <p:sldId id="311" r:id="rId13"/>
    <p:sldId id="312" r:id="rId14"/>
    <p:sldId id="31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10C6DB-5E30-4A27-A48C-72CD24442D85}" v="2" dt="2026-04-13T21:18:56.369"/>
  </p1510:revLst>
</p1510:revInfo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5405" autoAdjust="0"/>
  </p:normalViewPr>
  <p:slideViewPr>
    <p:cSldViewPr snapToGrid="0">
      <p:cViewPr varScale="1">
        <p:scale>
          <a:sx n="59" d="100"/>
          <a:sy n="59" d="100"/>
        </p:scale>
        <p:origin x="664" y="52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microsoft.com/office/2018/10/relationships/authors" Target="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vyshree Saxena" userId="9737669ea4c7dbae" providerId="LiveId" clId="{B025F381-6609-4ECF-9B6E-A4CC3D9CE0D4}"/>
    <pc:docChg chg="custSel modSld">
      <pc:chgData name="Divyshree Saxena" userId="9737669ea4c7dbae" providerId="LiveId" clId="{B025F381-6609-4ECF-9B6E-A4CC3D9CE0D4}" dt="2026-04-13T21:19:00.217" v="21" actId="20577"/>
      <pc:docMkLst>
        <pc:docMk/>
      </pc:docMkLst>
      <pc:sldChg chg="delSp mod">
        <pc:chgData name="Divyshree Saxena" userId="9737669ea4c7dbae" providerId="LiveId" clId="{B025F381-6609-4ECF-9B6E-A4CC3D9CE0D4}" dt="2026-04-13T20:45:26.924" v="0" actId="478"/>
        <pc:sldMkLst>
          <pc:docMk/>
          <pc:sldMk cId="1096717490" sldId="263"/>
        </pc:sldMkLst>
        <pc:picChg chg="del">
          <ac:chgData name="Divyshree Saxena" userId="9737669ea4c7dbae" providerId="LiveId" clId="{B025F381-6609-4ECF-9B6E-A4CC3D9CE0D4}" dt="2026-04-13T20:45:26.924" v="0" actId="478"/>
          <ac:picMkLst>
            <pc:docMk/>
            <pc:sldMk cId="1096717490" sldId="263"/>
            <ac:picMk id="29" creationId="{FBFEAA31-C25D-D0DD-E911-F77281F8F959}"/>
          </ac:picMkLst>
        </pc:picChg>
      </pc:sldChg>
      <pc:sldChg chg="delSp modSp mod">
        <pc:chgData name="Divyshree Saxena" userId="9737669ea4c7dbae" providerId="LiveId" clId="{B025F381-6609-4ECF-9B6E-A4CC3D9CE0D4}" dt="2026-04-13T20:46:46.979" v="3" actId="1076"/>
        <pc:sldMkLst>
          <pc:docMk/>
          <pc:sldMk cId="3748348926" sldId="311"/>
        </pc:sldMkLst>
        <pc:spChg chg="mod">
          <ac:chgData name="Divyshree Saxena" userId="9737669ea4c7dbae" providerId="LiveId" clId="{B025F381-6609-4ECF-9B6E-A4CC3D9CE0D4}" dt="2026-04-13T20:46:46.979" v="3" actId="1076"/>
          <ac:spMkLst>
            <pc:docMk/>
            <pc:sldMk cId="3748348926" sldId="311"/>
            <ac:spMk id="30" creationId="{FAD0CEA0-077E-98FB-3114-585F98E1E976}"/>
          </ac:spMkLst>
        </pc:spChg>
        <pc:picChg chg="del mod">
          <ac:chgData name="Divyshree Saxena" userId="9737669ea4c7dbae" providerId="LiveId" clId="{B025F381-6609-4ECF-9B6E-A4CC3D9CE0D4}" dt="2026-04-13T20:45:46.430" v="2" actId="478"/>
          <ac:picMkLst>
            <pc:docMk/>
            <pc:sldMk cId="3748348926" sldId="311"/>
            <ac:picMk id="29" creationId="{6793CB26-F32E-47FF-FF7D-36C69AE31CB7}"/>
          </ac:picMkLst>
        </pc:picChg>
      </pc:sldChg>
      <pc:sldChg chg="modSp mod">
        <pc:chgData name="Divyshree Saxena" userId="9737669ea4c7dbae" providerId="LiveId" clId="{B025F381-6609-4ECF-9B6E-A4CC3D9CE0D4}" dt="2026-04-13T20:47:14.931" v="4" actId="12"/>
        <pc:sldMkLst>
          <pc:docMk/>
          <pc:sldMk cId="859909800" sldId="312"/>
        </pc:sldMkLst>
        <pc:spChg chg="mod">
          <ac:chgData name="Divyshree Saxena" userId="9737669ea4c7dbae" providerId="LiveId" clId="{B025F381-6609-4ECF-9B6E-A4CC3D9CE0D4}" dt="2026-04-13T20:47:14.931" v="4" actId="12"/>
          <ac:spMkLst>
            <pc:docMk/>
            <pc:sldMk cId="859909800" sldId="312"/>
            <ac:spMk id="23" creationId="{00000000-0000-0000-0000-000000000000}"/>
          </ac:spMkLst>
        </pc:spChg>
      </pc:sldChg>
      <pc:sldChg chg="addSp modSp mod">
        <pc:chgData name="Divyshree Saxena" userId="9737669ea4c7dbae" providerId="LiveId" clId="{B025F381-6609-4ECF-9B6E-A4CC3D9CE0D4}" dt="2026-04-13T21:19:00.217" v="21" actId="20577"/>
        <pc:sldMkLst>
          <pc:docMk/>
          <pc:sldMk cId="1338167130" sldId="317"/>
        </pc:sldMkLst>
        <pc:spChg chg="add mod">
          <ac:chgData name="Divyshree Saxena" userId="9737669ea4c7dbae" providerId="LiveId" clId="{B025F381-6609-4ECF-9B6E-A4CC3D9CE0D4}" dt="2026-04-13T21:19:00.217" v="21" actId="20577"/>
          <ac:spMkLst>
            <pc:docMk/>
            <pc:sldMk cId="1338167130" sldId="317"/>
            <ac:spMk id="3" creationId="{A76732AE-49B9-C33F-B10F-1BC02F57122E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4/14/2026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4/14/2026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67541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73663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081334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262817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108936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724997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41411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1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9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3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182" indent="0" algn="ctr">
              <a:buNone/>
              <a:defRPr sz="1600"/>
            </a:lvl2pPr>
            <a:lvl3pPr marL="914363" indent="0" algn="ctr">
              <a:buNone/>
              <a:defRPr sz="1600"/>
            </a:lvl3pPr>
            <a:lvl4pPr marL="1371545" indent="0" algn="ctr">
              <a:buNone/>
              <a:defRPr sz="1600"/>
            </a:lvl4pPr>
            <a:lvl5pPr marL="1828727" indent="0" algn="ctr">
              <a:buNone/>
              <a:defRPr sz="1600"/>
            </a:lvl5pPr>
            <a:lvl6pPr marL="2285909" indent="0" algn="ctr">
              <a:buNone/>
              <a:defRPr sz="1600"/>
            </a:lvl6pPr>
            <a:lvl7pPr marL="2743090" indent="0" algn="ctr">
              <a:buNone/>
              <a:defRPr sz="1600"/>
            </a:lvl7pPr>
            <a:lvl8pPr marL="3200272" indent="0" algn="ctr">
              <a:buNone/>
              <a:defRPr sz="1600"/>
            </a:lvl8pPr>
            <a:lvl9pPr marL="3657454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DDA51639-B2D6-4652-B8C3-1B4C224A7BAF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84013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F5DD9-2C52-442D-92E2-8072C0C3D7CD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5010804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1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18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36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9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7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44961B7-6B89-48AB-966F-622E2788EECC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4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5" y="5211060"/>
            <a:ext cx="2112264" cy="228600"/>
          </a:xfrm>
        </p:spPr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8681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3D6FB-79CC-4683-A046-BBE785BA1BED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085971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182" indent="0">
              <a:buNone/>
              <a:defRPr sz="19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182" indent="0">
              <a:buNone/>
              <a:defRPr sz="19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2B3E8-48F1-4B23-8498-D8A04A81EC9C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9119698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90D90-AA62-404D-A741-635B4370F9CB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3978175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002E4-6836-46D1-9DBB-3C27C0DD3A89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679405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36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182" indent="0">
              <a:buNone/>
              <a:defRPr sz="1200"/>
            </a:lvl2pPr>
            <a:lvl3pPr marL="914363" indent="0">
              <a:buNone/>
              <a:defRPr sz="1000"/>
            </a:lvl3pPr>
            <a:lvl4pPr marL="1371545" indent="0">
              <a:buNone/>
              <a:defRPr sz="900"/>
            </a:lvl4pPr>
            <a:lvl5pPr marL="1828727" indent="0">
              <a:buNone/>
              <a:defRPr sz="900"/>
            </a:lvl5pPr>
            <a:lvl6pPr marL="2285909" indent="0">
              <a:buNone/>
              <a:defRPr sz="900"/>
            </a:lvl6pPr>
            <a:lvl7pPr marL="2743090" indent="0">
              <a:buNone/>
              <a:defRPr sz="900"/>
            </a:lvl7pPr>
            <a:lvl8pPr marL="3200272" indent="0">
              <a:buNone/>
              <a:defRPr sz="900"/>
            </a:lvl8pPr>
            <a:lvl9pPr marL="3657454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131DD-A141-4471-BCF9-C6073EDD7E20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62110573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1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182" indent="0">
              <a:buNone/>
              <a:defRPr sz="2800"/>
            </a:lvl2pPr>
            <a:lvl3pPr marL="914363" indent="0">
              <a:buNone/>
              <a:defRPr sz="2400"/>
            </a:lvl3pPr>
            <a:lvl4pPr marL="1371545" indent="0">
              <a:buNone/>
              <a:defRPr sz="2000"/>
            </a:lvl4pPr>
            <a:lvl5pPr marL="1828727" indent="0">
              <a:buNone/>
              <a:defRPr sz="2000"/>
            </a:lvl5pPr>
            <a:lvl6pPr marL="2285909" indent="0">
              <a:buNone/>
              <a:defRPr sz="2000"/>
            </a:lvl6pPr>
            <a:lvl7pPr marL="2743090" indent="0">
              <a:buNone/>
              <a:defRPr sz="2000"/>
            </a:lvl7pPr>
            <a:lvl8pPr marL="3200272" indent="0">
              <a:buNone/>
              <a:defRPr sz="2000"/>
            </a:lvl8pPr>
            <a:lvl9pPr marL="3657454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1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182" indent="0">
              <a:buNone/>
              <a:defRPr sz="1200"/>
            </a:lvl2pPr>
            <a:lvl3pPr marL="914363" indent="0">
              <a:buNone/>
              <a:defRPr sz="1000"/>
            </a:lvl3pPr>
            <a:lvl4pPr marL="1371545" indent="0">
              <a:buNone/>
              <a:defRPr sz="900"/>
            </a:lvl4pPr>
            <a:lvl5pPr marL="1828727" indent="0">
              <a:buNone/>
              <a:defRPr sz="900"/>
            </a:lvl5pPr>
            <a:lvl6pPr marL="2285909" indent="0">
              <a:buNone/>
              <a:defRPr sz="900"/>
            </a:lvl6pPr>
            <a:lvl7pPr marL="2743090" indent="0">
              <a:buNone/>
              <a:defRPr sz="900"/>
            </a:lvl7pPr>
            <a:lvl8pPr marL="3200272" indent="0">
              <a:buNone/>
              <a:defRPr sz="900"/>
            </a:lvl8pPr>
            <a:lvl9pPr marL="3657454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AB334A90-EB03-42F3-8859-2C2B2724C058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363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38843376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A6AA8-A04B-4104-9AE2-BD48D340E27F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2681951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BF79-FAC6-4A96-8DE1-F7B82E2E1652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1935250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118905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938531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740339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491757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49721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30223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016417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019951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320913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677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18" Type="http://schemas.openxmlformats.org/officeDocument/2006/relationships/slideLayout" Target="../slideLayouts/slideLayout33.xml"/><Relationship Id="rId3" Type="http://schemas.openxmlformats.org/officeDocument/2006/relationships/slideLayout" Target="../slideLayouts/slideLayout18.xml"/><Relationship Id="rId21" Type="http://schemas.openxmlformats.org/officeDocument/2006/relationships/slideLayout" Target="../slideLayouts/slideLayout36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17" Type="http://schemas.openxmlformats.org/officeDocument/2006/relationships/slideLayout" Target="../slideLayouts/slideLayout32.xml"/><Relationship Id="rId2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31.xml"/><Relationship Id="rId20" Type="http://schemas.openxmlformats.org/officeDocument/2006/relationships/slideLayout" Target="../slideLayouts/slideLayout35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25.xml"/><Relationship Id="rId19" Type="http://schemas.openxmlformats.org/officeDocument/2006/relationships/slideLayout" Target="../slideLayouts/slideLayout34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9.xml"/><Relationship Id="rId2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  <p:sldLayoutId id="2147483705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BC48EC7-AF6A-48D3-8284-14BACBEBDD84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5258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  <p:sldLayoutId id="2147483696" r:id="rId13"/>
    <p:sldLayoutId id="2147483697" r:id="rId14"/>
    <p:sldLayoutId id="2147483698" r:id="rId15"/>
    <p:sldLayoutId id="2147483699" r:id="rId16"/>
    <p:sldLayoutId id="2147483700" r:id="rId17"/>
    <p:sldLayoutId id="2147483701" r:id="rId18"/>
    <p:sldLayoutId id="2147483702" r:id="rId19"/>
    <p:sldLayoutId id="2147483703" r:id="rId20"/>
    <p:sldLayoutId id="2147483704" r:id="rId21"/>
  </p:sldLayoutIdLst>
  <p:hf sldNum="0" hdr="0" ftr="0" dt="0"/>
  <p:txStyles>
    <p:titleStyle>
      <a:lvl1pPr algn="l" defTabSz="914363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73" indent="-182873" algn="l" defTabSz="914363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indent="-182873" algn="l" defTabSz="914363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491" indent="-182873" algn="l" defTabSz="914363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00" indent="-182873" algn="l" defTabSz="914363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09" indent="-182873" algn="l" defTabSz="914363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599936" indent="-228591" algn="l" defTabSz="914363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899924" indent="-228591" algn="l" defTabSz="914363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99912" indent="-228591" algn="l" defTabSz="914363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499900" indent="-228591" algn="l" defTabSz="914363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3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5.svg"/><Relationship Id="rId4" Type="http://schemas.openxmlformats.org/officeDocument/2006/relationships/image" Target="../media/image2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61348"/>
            <a:ext cx="5247084" cy="7870627"/>
          </a:xfrm>
          <a:prstGeom prst="rect">
            <a:avLst/>
          </a:prstGeom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C0812525-D22C-BA40-837C-E6DDADAB539C}"/>
              </a:ext>
            </a:extLst>
          </p:cNvPr>
          <p:cNvSpPr/>
          <p:nvPr/>
        </p:nvSpPr>
        <p:spPr>
          <a:xfrm>
            <a:off x="5247084" y="276837"/>
            <a:ext cx="7468553" cy="2112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200">
              <a:lnSpc>
                <a:spcPts val="5500"/>
              </a:lnSpc>
            </a:pPr>
            <a:r>
              <a:rPr lang="en-US" sz="4400" dirty="0" err="1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SnapFix</a:t>
            </a:r>
            <a:r>
              <a:rPr lang="en-US" sz="440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– Home Repair Service Management Platform</a:t>
            </a:r>
            <a:endParaRPr lang="en-US" sz="4400" dirty="0">
              <a:solidFill>
                <a:prstClr val="black"/>
              </a:solidFill>
              <a:latin typeface="Century Gothic" panose="020B0502020202020204"/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E650A43A-127F-A1B7-53B4-17D2ADF7DF3E}"/>
              </a:ext>
            </a:extLst>
          </p:cNvPr>
          <p:cNvSpPr/>
          <p:nvPr/>
        </p:nvSpPr>
        <p:spPr>
          <a:xfrm>
            <a:off x="5247084" y="2731173"/>
            <a:ext cx="7468553" cy="1126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200">
              <a:lnSpc>
                <a:spcPts val="4400"/>
              </a:lnSpc>
            </a:pPr>
            <a:endParaRPr lang="en-US" sz="3500" dirty="0">
              <a:solidFill>
                <a:prstClr val="black"/>
              </a:solidFill>
              <a:latin typeface="Century Gothic" panose="020B0502020202020204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679B2B35-C7E5-4601-1C7E-67821C32DC22}"/>
              </a:ext>
            </a:extLst>
          </p:cNvPr>
          <p:cNvSpPr/>
          <p:nvPr/>
        </p:nvSpPr>
        <p:spPr>
          <a:xfrm>
            <a:off x="5247084" y="2419250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200">
              <a:lnSpc>
                <a:spcPts val="3000"/>
              </a:lnSpc>
            </a:pPr>
            <a:r>
              <a:rPr lang="en-US" sz="18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 scalable full-stack solution for booking and managing</a:t>
            </a:r>
          </a:p>
          <a:p>
            <a:pPr defTabSz="457200">
              <a:lnSpc>
                <a:spcPts val="3000"/>
              </a:lnSpc>
            </a:pPr>
            <a:r>
              <a:rPr lang="en-US" sz="18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home repair services</a:t>
            </a:r>
            <a:endParaRPr lang="en-US" sz="1850" dirty="0">
              <a:solidFill>
                <a:prstClr val="black"/>
              </a:solidFill>
              <a:latin typeface="Century Gothic" panose="020B0502020202020204"/>
            </a:endParaRP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98535E7F-3142-27AE-D6DA-7029CAD84A43}"/>
              </a:ext>
            </a:extLst>
          </p:cNvPr>
          <p:cNvSpPr/>
          <p:nvPr/>
        </p:nvSpPr>
        <p:spPr>
          <a:xfrm>
            <a:off x="8034530" y="4396877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457200">
              <a:lnSpc>
                <a:spcPts val="3000"/>
              </a:lnSpc>
            </a:pPr>
            <a:r>
              <a:rPr lang="en-US" sz="18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B.Tech CSE (CORE) </a:t>
            </a:r>
          </a:p>
          <a:p>
            <a:pPr defTabSz="457200">
              <a:lnSpc>
                <a:spcPts val="3000"/>
              </a:lnSpc>
            </a:pPr>
            <a:r>
              <a:rPr lang="en-US" sz="18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Manipal University Jaipur</a:t>
            </a:r>
            <a:endParaRPr lang="en-US" sz="1850" dirty="0">
              <a:solidFill>
                <a:prstClr val="black"/>
              </a:solidFill>
              <a:latin typeface="Century Gothic" panose="020B0502020202020204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CB57F2-5DDC-FB81-429C-C5F7704EB0E5}"/>
              </a:ext>
            </a:extLst>
          </p:cNvPr>
          <p:cNvSpPr txBox="1"/>
          <p:nvPr/>
        </p:nvSpPr>
        <p:spPr>
          <a:xfrm>
            <a:off x="7934614" y="5450565"/>
            <a:ext cx="47810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dirty="0">
                <a:solidFill>
                  <a:prstClr val="black"/>
                </a:solidFill>
                <a:latin typeface="Century Gothic" panose="020B0502020202020204"/>
              </a:rPr>
              <a:t>Presented By-</a:t>
            </a:r>
          </a:p>
          <a:p>
            <a:pPr defTabSz="457200"/>
            <a:r>
              <a:rPr lang="en-US" dirty="0">
                <a:solidFill>
                  <a:prstClr val="black"/>
                </a:solidFill>
                <a:latin typeface="Century Gothic" panose="020B0502020202020204"/>
              </a:rPr>
              <a:t>Divyshree Saxena [23FE10CSE00484]</a:t>
            </a:r>
          </a:p>
          <a:p>
            <a:pPr defTabSz="457200"/>
            <a:r>
              <a:rPr lang="en-US" dirty="0">
                <a:solidFill>
                  <a:prstClr val="black"/>
                </a:solidFill>
                <a:latin typeface="Century Gothic" panose="020B0502020202020204"/>
              </a:rPr>
              <a:t>Dhvani Baid [23FE10CSE00721]</a:t>
            </a:r>
            <a:endParaRPr lang="en-IN" dirty="0">
              <a:solidFill>
                <a:prstClr val="black"/>
              </a:solidFill>
              <a:latin typeface="Century Gothic" panose="020B050202020202020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6732AE-49B9-C33F-B10F-1BC02F57122E}"/>
              </a:ext>
            </a:extLst>
          </p:cNvPr>
          <p:cNvSpPr txBox="1"/>
          <p:nvPr/>
        </p:nvSpPr>
        <p:spPr>
          <a:xfrm>
            <a:off x="5159829" y="3505200"/>
            <a:ext cx="5061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Deployed ON: https://snapfix-ebon.vercel.app/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1CE8A89-9E84-BF29-88F8-825EBA4BE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896" y="2270659"/>
            <a:ext cx="10876207" cy="231668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A72C5A5-F319-C97A-6640-47E2060CED7C}"/>
              </a:ext>
            </a:extLst>
          </p:cNvPr>
          <p:cNvSpPr/>
          <p:nvPr/>
        </p:nvSpPr>
        <p:spPr>
          <a:xfrm>
            <a:off x="6663873" y="4306529"/>
            <a:ext cx="6118063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kumimoji="0" lang="en-US" sz="5400" b="1" i="0" u="none" strike="noStrike" kern="1200" cap="none" spc="0" normalizeH="0" baseline="0" noProof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Problem Statement</a:t>
            </a:r>
            <a:endParaRPr lang="en-US" sz="5400" b="1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86478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98103" y="2185492"/>
            <a:ext cx="3465612" cy="1783258"/>
          </a:xfrm>
          <a:prstGeom prst="roundRect">
            <a:avLst>
              <a:gd name="adj" fmla="val 1678"/>
            </a:avLst>
          </a:prstGeom>
          <a:solidFill>
            <a:srgbClr val="F3E8E8"/>
          </a:solidFill>
          <a:ln/>
        </p:spPr>
      </p:sp>
      <p:sp>
        <p:nvSpPr>
          <p:cNvPr id="4" name="Shape 2"/>
          <p:cNvSpPr/>
          <p:nvPr/>
        </p:nvSpPr>
        <p:spPr>
          <a:xfrm>
            <a:off x="897533" y="2384921"/>
            <a:ext cx="598388" cy="598388"/>
          </a:xfrm>
          <a:prstGeom prst="roundRect">
            <a:avLst>
              <a:gd name="adj" fmla="val 12732932"/>
            </a:avLst>
          </a:prstGeom>
          <a:solidFill>
            <a:srgbClr val="F5A3A3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2038" y="2549426"/>
            <a:ext cx="269280" cy="269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7533" y="3182739"/>
            <a:ext cx="3066753" cy="586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380985">
              <a:lnSpc>
                <a:spcPts val="2292"/>
              </a:lnSpc>
            </a:pPr>
            <a:r>
              <a:rPr lang="en-US" sz="1833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Build a reliable digital service platform</a:t>
            </a:r>
            <a:endParaRPr lang="en-US" sz="1833" dirty="0">
              <a:solidFill>
                <a:prstClr val="black"/>
              </a:solidFill>
              <a:latin typeface="Century Gothic" panose="020B0502020202020204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363144" y="2185492"/>
            <a:ext cx="3465612" cy="1783258"/>
          </a:xfrm>
          <a:prstGeom prst="roundRect">
            <a:avLst>
              <a:gd name="adj" fmla="val 1678"/>
            </a:avLst>
          </a:prstGeom>
          <a:solidFill>
            <a:srgbClr val="F3E8E8"/>
          </a:solidFill>
          <a:ln/>
        </p:spPr>
      </p:sp>
      <p:sp>
        <p:nvSpPr>
          <p:cNvPr id="8" name="Shape 5"/>
          <p:cNvSpPr/>
          <p:nvPr/>
        </p:nvSpPr>
        <p:spPr>
          <a:xfrm>
            <a:off x="4562574" y="2384921"/>
            <a:ext cx="598388" cy="598388"/>
          </a:xfrm>
          <a:prstGeom prst="roundRect">
            <a:avLst>
              <a:gd name="adj" fmla="val 12732932"/>
            </a:avLst>
          </a:prstGeom>
          <a:solidFill>
            <a:srgbClr val="F5A3A3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27079" y="2549426"/>
            <a:ext cx="269280" cy="2692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62574" y="3182739"/>
            <a:ext cx="3066753" cy="586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380985">
              <a:lnSpc>
                <a:spcPts val="2292"/>
              </a:lnSpc>
            </a:pPr>
            <a:r>
              <a:rPr lang="en-US" sz="1833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Enable structured booking lifecycle management</a:t>
            </a:r>
            <a:endParaRPr lang="en-US" sz="1833" dirty="0">
              <a:solidFill>
                <a:prstClr val="black"/>
              </a:solidFill>
              <a:latin typeface="Century Gothic" panose="020B0502020202020204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8028186" y="2185492"/>
            <a:ext cx="3465711" cy="1783258"/>
          </a:xfrm>
          <a:prstGeom prst="roundRect">
            <a:avLst>
              <a:gd name="adj" fmla="val 1678"/>
            </a:avLst>
          </a:prstGeom>
          <a:solidFill>
            <a:srgbClr val="F3E8E8"/>
          </a:solidFill>
          <a:ln/>
        </p:spPr>
      </p:sp>
      <p:sp>
        <p:nvSpPr>
          <p:cNvPr id="12" name="Shape 8"/>
          <p:cNvSpPr/>
          <p:nvPr/>
        </p:nvSpPr>
        <p:spPr>
          <a:xfrm>
            <a:off x="8227616" y="2384921"/>
            <a:ext cx="598388" cy="598388"/>
          </a:xfrm>
          <a:prstGeom prst="roundRect">
            <a:avLst>
              <a:gd name="adj" fmla="val 12732932"/>
            </a:avLst>
          </a:prstGeom>
          <a:solidFill>
            <a:srgbClr val="F5A3A3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92120" y="2549426"/>
            <a:ext cx="269280" cy="2692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27616" y="3182739"/>
            <a:ext cx="3066852" cy="586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380985">
              <a:lnSpc>
                <a:spcPts val="2292"/>
              </a:lnSpc>
            </a:pPr>
            <a:r>
              <a:rPr lang="en-US" sz="1833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Ensure secure authentication system</a:t>
            </a:r>
            <a:endParaRPr lang="en-US" sz="1833" dirty="0">
              <a:solidFill>
                <a:prstClr val="black"/>
              </a:solidFill>
              <a:latin typeface="Century Gothic" panose="020B0502020202020204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698103" y="4168180"/>
            <a:ext cx="5298182" cy="1489968"/>
          </a:xfrm>
          <a:prstGeom prst="roundRect">
            <a:avLst>
              <a:gd name="adj" fmla="val 2008"/>
            </a:avLst>
          </a:prstGeom>
          <a:solidFill>
            <a:srgbClr val="F3E8E8"/>
          </a:solidFill>
          <a:ln/>
        </p:spPr>
      </p:sp>
      <p:sp>
        <p:nvSpPr>
          <p:cNvPr id="16" name="Shape 11"/>
          <p:cNvSpPr/>
          <p:nvPr/>
        </p:nvSpPr>
        <p:spPr>
          <a:xfrm>
            <a:off x="897533" y="4367609"/>
            <a:ext cx="598388" cy="598388"/>
          </a:xfrm>
          <a:prstGeom prst="roundRect">
            <a:avLst>
              <a:gd name="adj" fmla="val 12732932"/>
            </a:avLst>
          </a:prstGeom>
          <a:solidFill>
            <a:srgbClr val="F5A3A3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2038" y="4532114"/>
            <a:ext cx="269280" cy="2692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97533" y="5165428"/>
            <a:ext cx="285948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380985">
              <a:lnSpc>
                <a:spcPts val="2292"/>
              </a:lnSpc>
            </a:pPr>
            <a:r>
              <a:rPr lang="en-US" sz="1833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Provide admin-level control</a:t>
            </a:r>
            <a:endParaRPr lang="en-US" sz="1833" dirty="0">
              <a:solidFill>
                <a:prstClr val="black"/>
              </a:solidFill>
              <a:latin typeface="Century Gothic" panose="020B0502020202020204"/>
            </a:endParaRPr>
          </a:p>
        </p:txBody>
      </p:sp>
      <p:sp>
        <p:nvSpPr>
          <p:cNvPr id="19" name="Shape 13"/>
          <p:cNvSpPr/>
          <p:nvPr/>
        </p:nvSpPr>
        <p:spPr>
          <a:xfrm>
            <a:off x="6195715" y="4168180"/>
            <a:ext cx="5298182" cy="1489968"/>
          </a:xfrm>
          <a:prstGeom prst="roundRect">
            <a:avLst>
              <a:gd name="adj" fmla="val 2008"/>
            </a:avLst>
          </a:prstGeom>
          <a:solidFill>
            <a:srgbClr val="F3E8E8"/>
          </a:solidFill>
          <a:ln/>
        </p:spPr>
      </p:sp>
      <p:sp>
        <p:nvSpPr>
          <p:cNvPr id="20" name="Shape 14"/>
          <p:cNvSpPr/>
          <p:nvPr/>
        </p:nvSpPr>
        <p:spPr>
          <a:xfrm>
            <a:off x="6395144" y="4367609"/>
            <a:ext cx="598388" cy="598388"/>
          </a:xfrm>
          <a:prstGeom prst="roundRect">
            <a:avLst>
              <a:gd name="adj" fmla="val 12732932"/>
            </a:avLst>
          </a:prstGeom>
          <a:solidFill>
            <a:srgbClr val="F5A3A3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59649" y="4532114"/>
            <a:ext cx="269280" cy="2692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395144" y="5165428"/>
            <a:ext cx="3781723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380985">
              <a:lnSpc>
                <a:spcPts val="2292"/>
              </a:lnSpc>
            </a:pPr>
            <a:r>
              <a:rPr lang="en-US" sz="1833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Improve transparency and efficiency</a:t>
            </a:r>
            <a:endParaRPr lang="en-US" sz="1833" dirty="0">
              <a:solidFill>
                <a:prstClr val="black"/>
              </a:solidFill>
              <a:latin typeface="Century Gothic" panose="020B0502020202020204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3123FED-627F-EEBE-99F0-FBE607E9FDD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00607" y="6492825"/>
            <a:ext cx="1587722" cy="365176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5ACDE42E-F2E6-B63C-EB70-73E95907985C}"/>
              </a:ext>
            </a:extLst>
          </p:cNvPr>
          <p:cNvSpPr/>
          <p:nvPr/>
        </p:nvSpPr>
        <p:spPr>
          <a:xfrm>
            <a:off x="4247727" y="501302"/>
            <a:ext cx="330090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i="1" cap="none" spc="0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Objective</a:t>
            </a:r>
            <a:endParaRPr lang="en-US" sz="5400" b="1" cap="none" spc="0" dirty="0">
              <a:ln w="0"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0"/>
          <p:cNvSpPr/>
          <p:nvPr/>
        </p:nvSpPr>
        <p:spPr>
          <a:xfrm>
            <a:off x="665461" y="546100"/>
            <a:ext cx="4473674" cy="559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375"/>
              </a:lnSpc>
            </a:pPr>
            <a:r>
              <a:rPr lang="en-US" sz="350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System Overview</a:t>
            </a:r>
            <a:endParaRPr lang="en-US" sz="3500" dirty="0"/>
          </a:p>
        </p:txBody>
      </p:sp>
      <p:sp>
        <p:nvSpPr>
          <p:cNvPr id="18" name="Text 1"/>
          <p:cNvSpPr/>
          <p:nvPr/>
        </p:nvSpPr>
        <p:spPr>
          <a:xfrm>
            <a:off x="665460" y="1467644"/>
            <a:ext cx="10861080" cy="296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33"/>
              </a:lnSpc>
            </a:pPr>
            <a:r>
              <a:rPr lang="en-US" sz="1458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SnapFix is a workflow-driven platform managing:</a:t>
            </a:r>
            <a:endParaRPr lang="en-US" sz="1458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460" y="1968401"/>
            <a:ext cx="5430540" cy="760512"/>
          </a:xfrm>
          <a:prstGeom prst="rect">
            <a:avLst/>
          </a:prstGeom>
        </p:spPr>
      </p:pic>
      <p:sp>
        <p:nvSpPr>
          <p:cNvPr id="20" name="Text 2"/>
          <p:cNvSpPr/>
          <p:nvPr/>
        </p:nvSpPr>
        <p:spPr>
          <a:xfrm>
            <a:off x="855564" y="2910086"/>
            <a:ext cx="2236788" cy="279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67"/>
              </a:lnSpc>
            </a:pPr>
            <a:r>
              <a:rPr lang="en-US" sz="175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Request</a:t>
            </a:r>
            <a:endParaRPr lang="en-US" sz="175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968401"/>
            <a:ext cx="5430540" cy="760512"/>
          </a:xfrm>
          <a:prstGeom prst="rect">
            <a:avLst/>
          </a:prstGeom>
        </p:spPr>
      </p:pic>
      <p:sp>
        <p:nvSpPr>
          <p:cNvPr id="22" name="Text 3"/>
          <p:cNvSpPr/>
          <p:nvPr/>
        </p:nvSpPr>
        <p:spPr>
          <a:xfrm>
            <a:off x="6286104" y="2910086"/>
            <a:ext cx="2236788" cy="279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67"/>
              </a:lnSpc>
            </a:pPr>
            <a:r>
              <a:rPr lang="en-US" sz="175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Assignment</a:t>
            </a:r>
            <a:endParaRPr lang="en-US" sz="175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460" y="3379688"/>
            <a:ext cx="5430540" cy="760512"/>
          </a:xfrm>
          <a:prstGeom prst="rect">
            <a:avLst/>
          </a:prstGeom>
        </p:spPr>
      </p:pic>
      <p:sp>
        <p:nvSpPr>
          <p:cNvPr id="24" name="Text 4"/>
          <p:cNvSpPr/>
          <p:nvPr/>
        </p:nvSpPr>
        <p:spPr>
          <a:xfrm>
            <a:off x="855564" y="4321374"/>
            <a:ext cx="2236788" cy="279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67"/>
              </a:lnSpc>
            </a:pPr>
            <a:r>
              <a:rPr lang="en-US" sz="175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Execution</a:t>
            </a:r>
            <a:endParaRPr lang="en-US" sz="175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3379688"/>
            <a:ext cx="5430540" cy="760512"/>
          </a:xfrm>
          <a:prstGeom prst="rect">
            <a:avLst/>
          </a:prstGeom>
        </p:spPr>
      </p:pic>
      <p:sp>
        <p:nvSpPr>
          <p:cNvPr id="26" name="Text 5"/>
          <p:cNvSpPr/>
          <p:nvPr/>
        </p:nvSpPr>
        <p:spPr>
          <a:xfrm>
            <a:off x="6286104" y="4321374"/>
            <a:ext cx="2236788" cy="279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67"/>
              </a:lnSpc>
            </a:pPr>
            <a:r>
              <a:rPr lang="en-US" sz="175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Completion</a:t>
            </a:r>
            <a:endParaRPr lang="en-US" sz="1750" dirty="0"/>
          </a:p>
        </p:txBody>
      </p:sp>
      <p:sp>
        <p:nvSpPr>
          <p:cNvPr id="27" name="Text 6"/>
          <p:cNvSpPr/>
          <p:nvPr/>
        </p:nvSpPr>
        <p:spPr>
          <a:xfrm>
            <a:off x="665460" y="5062736"/>
            <a:ext cx="2684165" cy="335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25"/>
              </a:lnSpc>
            </a:pPr>
            <a:r>
              <a:rPr lang="en-US" sz="2083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Key Modules:</a:t>
            </a:r>
            <a:endParaRPr lang="en-US" sz="2083" dirty="0"/>
          </a:p>
        </p:txBody>
      </p:sp>
      <p:sp>
        <p:nvSpPr>
          <p:cNvPr id="28" name="Text 7"/>
          <p:cNvSpPr/>
          <p:nvPr/>
        </p:nvSpPr>
        <p:spPr>
          <a:xfrm>
            <a:off x="665460" y="5851129"/>
            <a:ext cx="2236788" cy="279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67"/>
              </a:lnSpc>
            </a:pPr>
            <a:r>
              <a:rPr lang="en-US" sz="1750" dirty="0">
                <a:solidFill>
                  <a:srgbClr val="F5A3A3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Customer Interface</a:t>
            </a:r>
            <a:endParaRPr lang="en-US" sz="1750" dirty="0"/>
          </a:p>
        </p:txBody>
      </p:sp>
      <p:sp>
        <p:nvSpPr>
          <p:cNvPr id="29" name="Text 8"/>
          <p:cNvSpPr/>
          <p:nvPr/>
        </p:nvSpPr>
        <p:spPr>
          <a:xfrm>
            <a:off x="4408984" y="5851129"/>
            <a:ext cx="2236788" cy="279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67"/>
              </a:lnSpc>
            </a:pPr>
            <a:r>
              <a:rPr lang="en-US" sz="1750" dirty="0">
                <a:solidFill>
                  <a:srgbClr val="F5A3A3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Worker Dashboard</a:t>
            </a:r>
            <a:endParaRPr lang="en-US" sz="1750" dirty="0"/>
          </a:p>
        </p:txBody>
      </p:sp>
      <p:sp>
        <p:nvSpPr>
          <p:cNvPr id="30" name="Text 9"/>
          <p:cNvSpPr/>
          <p:nvPr/>
        </p:nvSpPr>
        <p:spPr>
          <a:xfrm>
            <a:off x="8152507" y="5851129"/>
            <a:ext cx="2236788" cy="279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67"/>
              </a:lnSpc>
            </a:pPr>
            <a:r>
              <a:rPr lang="en-US" sz="1750" dirty="0">
                <a:solidFill>
                  <a:srgbClr val="F5A3A3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Admin Panel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CD348E-9357-0442-4555-AF6B4AFE34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0561" y="3049543"/>
            <a:ext cx="3018480" cy="4527721"/>
          </a:xfrm>
          <a:prstGeom prst="rect">
            <a:avLst/>
          </a:prstGeom>
        </p:spPr>
      </p:pic>
      <p:sp>
        <p:nvSpPr>
          <p:cNvPr id="41" name="Text 1">
            <a:extLst>
              <a:ext uri="{FF2B5EF4-FFF2-40B4-BE49-F238E27FC236}">
                <a16:creationId xmlns:a16="http://schemas.microsoft.com/office/drawing/2014/main" id="{15870DB0-4006-A0F6-9456-11D6F21859EC}"/>
              </a:ext>
            </a:extLst>
          </p:cNvPr>
          <p:cNvSpPr/>
          <p:nvPr/>
        </p:nvSpPr>
        <p:spPr>
          <a:xfrm>
            <a:off x="808227" y="261572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System Architecture</a:t>
            </a:r>
            <a:endParaRPr lang="en-US" sz="4400" dirty="0"/>
          </a:p>
        </p:txBody>
      </p:sp>
      <p:sp>
        <p:nvSpPr>
          <p:cNvPr id="42" name="Text 2">
            <a:extLst>
              <a:ext uri="{FF2B5EF4-FFF2-40B4-BE49-F238E27FC236}">
                <a16:creationId xmlns:a16="http://schemas.microsoft.com/office/drawing/2014/main" id="{68F24155-5EDF-BC42-02A7-B688EF3B960F}"/>
              </a:ext>
            </a:extLst>
          </p:cNvPr>
          <p:cNvSpPr/>
          <p:nvPr/>
        </p:nvSpPr>
        <p:spPr>
          <a:xfrm>
            <a:off x="808227" y="1563878"/>
            <a:ext cx="3379470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5A3A3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Frontend:</a:t>
            </a:r>
            <a:endParaRPr lang="en-US" sz="2650" dirty="0"/>
          </a:p>
        </p:txBody>
      </p:sp>
      <p:sp>
        <p:nvSpPr>
          <p:cNvPr id="43" name="Text 3">
            <a:extLst>
              <a:ext uri="{FF2B5EF4-FFF2-40B4-BE49-F238E27FC236}">
                <a16:creationId xmlns:a16="http://schemas.microsoft.com/office/drawing/2014/main" id="{DA70A1D7-B7CC-DD17-7F66-ED3793E789BA}"/>
              </a:ext>
            </a:extLst>
          </p:cNvPr>
          <p:cNvSpPr/>
          <p:nvPr/>
        </p:nvSpPr>
        <p:spPr>
          <a:xfrm>
            <a:off x="808227" y="2028939"/>
            <a:ext cx="34423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React (Vite)</a:t>
            </a:r>
            <a:endParaRPr lang="en-US" sz="1850" dirty="0"/>
          </a:p>
        </p:txBody>
      </p:sp>
      <p:sp>
        <p:nvSpPr>
          <p:cNvPr id="44" name="Text 4">
            <a:extLst>
              <a:ext uri="{FF2B5EF4-FFF2-40B4-BE49-F238E27FC236}">
                <a16:creationId xmlns:a16="http://schemas.microsoft.com/office/drawing/2014/main" id="{70D765B9-CF69-8A55-E722-E53FB64DAD93}"/>
              </a:ext>
            </a:extLst>
          </p:cNvPr>
          <p:cNvSpPr/>
          <p:nvPr/>
        </p:nvSpPr>
        <p:spPr>
          <a:xfrm>
            <a:off x="808227" y="2616872"/>
            <a:ext cx="3379470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5A3A3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Backend:</a:t>
            </a:r>
            <a:endParaRPr lang="en-US" sz="2650" dirty="0"/>
          </a:p>
        </p:txBody>
      </p:sp>
      <p:sp>
        <p:nvSpPr>
          <p:cNvPr id="45" name="Text 5">
            <a:extLst>
              <a:ext uri="{FF2B5EF4-FFF2-40B4-BE49-F238E27FC236}">
                <a16:creationId xmlns:a16="http://schemas.microsoft.com/office/drawing/2014/main" id="{9C5CD63E-885B-C86D-CC1E-03BAF536418E}"/>
              </a:ext>
            </a:extLst>
          </p:cNvPr>
          <p:cNvSpPr/>
          <p:nvPr/>
        </p:nvSpPr>
        <p:spPr>
          <a:xfrm>
            <a:off x="808226" y="3039187"/>
            <a:ext cx="34423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Node.js + Express</a:t>
            </a:r>
            <a:endParaRPr lang="en-US" sz="1850" dirty="0"/>
          </a:p>
        </p:txBody>
      </p:sp>
      <p:sp>
        <p:nvSpPr>
          <p:cNvPr id="47" name="Text 7">
            <a:extLst>
              <a:ext uri="{FF2B5EF4-FFF2-40B4-BE49-F238E27FC236}">
                <a16:creationId xmlns:a16="http://schemas.microsoft.com/office/drawing/2014/main" id="{A47F72E6-080C-1993-E1BA-B2D7D5E70FDD}"/>
              </a:ext>
            </a:extLst>
          </p:cNvPr>
          <p:cNvSpPr/>
          <p:nvPr/>
        </p:nvSpPr>
        <p:spPr>
          <a:xfrm>
            <a:off x="8524613" y="2033996"/>
            <a:ext cx="34423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MongoDB Atlas</a:t>
            </a:r>
            <a:endParaRPr lang="en-US" sz="1850" dirty="0"/>
          </a:p>
        </p:txBody>
      </p:sp>
      <p:sp>
        <p:nvSpPr>
          <p:cNvPr id="48" name="Text 8">
            <a:extLst>
              <a:ext uri="{FF2B5EF4-FFF2-40B4-BE49-F238E27FC236}">
                <a16:creationId xmlns:a16="http://schemas.microsoft.com/office/drawing/2014/main" id="{68309DFA-AFF0-82C8-BC31-5469E59DB525}"/>
              </a:ext>
            </a:extLst>
          </p:cNvPr>
          <p:cNvSpPr/>
          <p:nvPr/>
        </p:nvSpPr>
        <p:spPr>
          <a:xfrm>
            <a:off x="4842064" y="1563878"/>
            <a:ext cx="3379470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5A3A3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Features:</a:t>
            </a:r>
            <a:endParaRPr lang="en-US" sz="2650" dirty="0"/>
          </a:p>
        </p:txBody>
      </p:sp>
      <p:sp>
        <p:nvSpPr>
          <p:cNvPr id="49" name="Text 9">
            <a:extLst>
              <a:ext uri="{FF2B5EF4-FFF2-40B4-BE49-F238E27FC236}">
                <a16:creationId xmlns:a16="http://schemas.microsoft.com/office/drawing/2014/main" id="{246A0617-D5D4-9C17-B820-0063FF75F664}"/>
              </a:ext>
            </a:extLst>
          </p:cNvPr>
          <p:cNvSpPr/>
          <p:nvPr/>
        </p:nvSpPr>
        <p:spPr>
          <a:xfrm>
            <a:off x="4842064" y="2225508"/>
            <a:ext cx="3442335" cy="1316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REST APIs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JWT Authentication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OTP-based login</a:t>
            </a:r>
            <a:endParaRPr lang="en-US" sz="1850" dirty="0"/>
          </a:p>
        </p:txBody>
      </p:sp>
      <p:sp>
        <p:nvSpPr>
          <p:cNvPr id="50" name="Text 6">
            <a:extLst>
              <a:ext uri="{FF2B5EF4-FFF2-40B4-BE49-F238E27FC236}">
                <a16:creationId xmlns:a16="http://schemas.microsoft.com/office/drawing/2014/main" id="{C706AAB2-0E01-AB67-9A7C-17AE73610A19}"/>
              </a:ext>
            </a:extLst>
          </p:cNvPr>
          <p:cNvSpPr/>
          <p:nvPr/>
        </p:nvSpPr>
        <p:spPr>
          <a:xfrm>
            <a:off x="8556046" y="1563877"/>
            <a:ext cx="3379470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5A3A3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Database:</a:t>
            </a:r>
            <a:endParaRPr lang="en-US" sz="2650" dirty="0"/>
          </a:p>
        </p:txBody>
      </p:sp>
    </p:spTree>
    <p:extLst>
      <p:ext uri="{BB962C8B-B14F-4D97-AF65-F5344CB8AC3E}">
        <p14:creationId xmlns:p14="http://schemas.microsoft.com/office/powerpoint/2010/main" val="1966913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1">
            <a:extLst>
              <a:ext uri="{FF2B5EF4-FFF2-40B4-BE49-F238E27FC236}">
                <a16:creationId xmlns:a16="http://schemas.microsoft.com/office/drawing/2014/main" id="{17A7B0DF-7796-EE57-8894-23EBBC1EAFF6}"/>
              </a:ext>
            </a:extLst>
          </p:cNvPr>
          <p:cNvSpPr/>
          <p:nvPr/>
        </p:nvSpPr>
        <p:spPr>
          <a:xfrm>
            <a:off x="4325472" y="1582236"/>
            <a:ext cx="4158734" cy="1894284"/>
          </a:xfrm>
          <a:prstGeom prst="roundRect">
            <a:avLst>
              <a:gd name="adj" fmla="val 1896"/>
            </a:avLst>
          </a:prstGeom>
          <a:solidFill>
            <a:srgbClr val="F3E8E8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751D96EC-DB55-36D4-75F3-B4E5E6CB47CA}"/>
              </a:ext>
            </a:extLst>
          </p:cNvPr>
          <p:cNvSpPr/>
          <p:nvPr/>
        </p:nvSpPr>
        <p:spPr>
          <a:xfrm>
            <a:off x="4715104" y="1796182"/>
            <a:ext cx="3379470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Customer:</a:t>
            </a:r>
            <a:endParaRPr lang="en-US" sz="2650" dirty="0"/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5D80F877-F290-D276-6C90-FAFAEA91017D}"/>
              </a:ext>
            </a:extLst>
          </p:cNvPr>
          <p:cNvSpPr/>
          <p:nvPr/>
        </p:nvSpPr>
        <p:spPr>
          <a:xfrm>
            <a:off x="4804103" y="2273073"/>
            <a:ext cx="3680103" cy="849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Book services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Track job status</a:t>
            </a:r>
            <a:endParaRPr lang="en-US" sz="1850" dirty="0"/>
          </a:p>
        </p:txBody>
      </p:sp>
      <p:sp>
        <p:nvSpPr>
          <p:cNvPr id="23" name="Shape 4">
            <a:extLst>
              <a:ext uri="{FF2B5EF4-FFF2-40B4-BE49-F238E27FC236}">
                <a16:creationId xmlns:a16="http://schemas.microsoft.com/office/drawing/2014/main" id="{26EB3D5E-53B9-8F8E-9E03-CF39E01C1F18}"/>
              </a:ext>
            </a:extLst>
          </p:cNvPr>
          <p:cNvSpPr/>
          <p:nvPr/>
        </p:nvSpPr>
        <p:spPr>
          <a:xfrm>
            <a:off x="1849026" y="4164757"/>
            <a:ext cx="4158734" cy="1894284"/>
          </a:xfrm>
          <a:prstGeom prst="roundRect">
            <a:avLst>
              <a:gd name="adj" fmla="val 1896"/>
            </a:avLst>
          </a:prstGeom>
          <a:solidFill>
            <a:srgbClr val="F3E8E8"/>
          </a:solidFill>
          <a:ln/>
        </p:spPr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29B8FDAE-3237-DE47-C7ED-99828847FE79}"/>
              </a:ext>
            </a:extLst>
          </p:cNvPr>
          <p:cNvSpPr/>
          <p:nvPr/>
        </p:nvSpPr>
        <p:spPr>
          <a:xfrm>
            <a:off x="2156755" y="4343783"/>
            <a:ext cx="3379470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Worker:</a:t>
            </a:r>
            <a:endParaRPr lang="en-US" sz="2650" dirty="0"/>
          </a:p>
        </p:txBody>
      </p:sp>
      <p:sp>
        <p:nvSpPr>
          <p:cNvPr id="25" name="Text 6">
            <a:extLst>
              <a:ext uri="{FF2B5EF4-FFF2-40B4-BE49-F238E27FC236}">
                <a16:creationId xmlns:a16="http://schemas.microsoft.com/office/drawing/2014/main" id="{98806DBF-DA23-AE0D-728B-2E975F8DC2EC}"/>
              </a:ext>
            </a:extLst>
          </p:cNvPr>
          <p:cNvSpPr/>
          <p:nvPr/>
        </p:nvSpPr>
        <p:spPr>
          <a:xfrm>
            <a:off x="2227094" y="4908450"/>
            <a:ext cx="3680103" cy="849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Accept / Reject jobs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Update job progress</a:t>
            </a:r>
            <a:endParaRPr lang="en-US" sz="1850" dirty="0"/>
          </a:p>
        </p:txBody>
      </p:sp>
      <p:sp>
        <p:nvSpPr>
          <p:cNvPr id="26" name="Shape 7">
            <a:extLst>
              <a:ext uri="{FF2B5EF4-FFF2-40B4-BE49-F238E27FC236}">
                <a16:creationId xmlns:a16="http://schemas.microsoft.com/office/drawing/2014/main" id="{2231F83B-B23C-BD41-648C-D93B88A9D70E}"/>
              </a:ext>
            </a:extLst>
          </p:cNvPr>
          <p:cNvSpPr/>
          <p:nvPr/>
        </p:nvSpPr>
        <p:spPr>
          <a:xfrm>
            <a:off x="7511233" y="4144654"/>
            <a:ext cx="4158734" cy="1894283"/>
          </a:xfrm>
          <a:prstGeom prst="roundRect">
            <a:avLst>
              <a:gd name="adj" fmla="val 1896"/>
            </a:avLst>
          </a:prstGeom>
          <a:solidFill>
            <a:srgbClr val="F3E8E8"/>
          </a:solidFill>
          <a:ln/>
        </p:spPr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E371D560-AB05-9F34-B8AA-7F951D5DD559}"/>
              </a:ext>
            </a:extLst>
          </p:cNvPr>
          <p:cNvSpPr/>
          <p:nvPr/>
        </p:nvSpPr>
        <p:spPr>
          <a:xfrm>
            <a:off x="7900865" y="4343782"/>
            <a:ext cx="3379470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Admin:</a:t>
            </a:r>
            <a:endParaRPr lang="en-US" sz="2650" dirty="0"/>
          </a:p>
        </p:txBody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625D301D-AE2B-B0EA-5DCE-58FFF31F0131}"/>
              </a:ext>
            </a:extLst>
          </p:cNvPr>
          <p:cNvSpPr/>
          <p:nvPr/>
        </p:nvSpPr>
        <p:spPr>
          <a:xfrm>
            <a:off x="7900865" y="4850889"/>
            <a:ext cx="3680222" cy="849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Manage users &amp; workers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Monitor all bookings</a:t>
            </a:r>
            <a:endParaRPr lang="en-US" sz="185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7E6E63A-C6BB-FCA0-D436-8D3A13899DCF}"/>
              </a:ext>
            </a:extLst>
          </p:cNvPr>
          <p:cNvSpPr/>
          <p:nvPr/>
        </p:nvSpPr>
        <p:spPr>
          <a:xfrm>
            <a:off x="3686180" y="288903"/>
            <a:ext cx="4798026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400" b="1" i="1" u="sng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Core Features</a:t>
            </a:r>
            <a:endParaRPr lang="en-US" sz="4400" b="1" i="1" u="sng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96717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103" y="2940050"/>
            <a:ext cx="199430" cy="199430"/>
          </a:xfrm>
          <a:prstGeom prst="rect">
            <a:avLst/>
          </a:prstGeom>
        </p:spPr>
      </p:pic>
      <p:sp>
        <p:nvSpPr>
          <p:cNvPr id="12" name="Shape 1"/>
          <p:cNvSpPr/>
          <p:nvPr/>
        </p:nvSpPr>
        <p:spPr>
          <a:xfrm>
            <a:off x="698103" y="3228777"/>
            <a:ext cx="3465612" cy="25400"/>
          </a:xfrm>
          <a:prstGeom prst="rect">
            <a:avLst/>
          </a:prstGeom>
          <a:solidFill>
            <a:srgbClr val="F5A3A3"/>
          </a:solidFill>
          <a:ln/>
        </p:spPr>
      </p:sp>
      <p:sp>
        <p:nvSpPr>
          <p:cNvPr id="13" name="Text 2"/>
          <p:cNvSpPr/>
          <p:nvPr/>
        </p:nvSpPr>
        <p:spPr>
          <a:xfrm>
            <a:off x="698104" y="3379292"/>
            <a:ext cx="2434233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OTP-based login (2FA)</a:t>
            </a:r>
            <a:endParaRPr lang="en-US" sz="1833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144" y="2940050"/>
            <a:ext cx="199430" cy="199430"/>
          </a:xfrm>
          <a:prstGeom prst="rect">
            <a:avLst/>
          </a:prstGeom>
        </p:spPr>
      </p:pic>
      <p:sp>
        <p:nvSpPr>
          <p:cNvPr id="16" name="Shape 3"/>
          <p:cNvSpPr/>
          <p:nvPr/>
        </p:nvSpPr>
        <p:spPr>
          <a:xfrm>
            <a:off x="4363144" y="3228777"/>
            <a:ext cx="3465612" cy="25400"/>
          </a:xfrm>
          <a:prstGeom prst="rect">
            <a:avLst/>
          </a:prstGeom>
          <a:solidFill>
            <a:srgbClr val="F5A3A3"/>
          </a:solidFill>
          <a:ln/>
        </p:spPr>
      </p:sp>
      <p:sp>
        <p:nvSpPr>
          <p:cNvPr id="18" name="Text 4"/>
          <p:cNvSpPr/>
          <p:nvPr/>
        </p:nvSpPr>
        <p:spPr>
          <a:xfrm>
            <a:off x="4363144" y="3379292"/>
            <a:ext cx="2758877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JWT session management</a:t>
            </a:r>
            <a:endParaRPr lang="en-US" sz="1833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28186" y="2940050"/>
            <a:ext cx="199430" cy="199430"/>
          </a:xfrm>
          <a:prstGeom prst="rect">
            <a:avLst/>
          </a:prstGeom>
        </p:spPr>
      </p:pic>
      <p:sp>
        <p:nvSpPr>
          <p:cNvPr id="20" name="Shape 5"/>
          <p:cNvSpPr/>
          <p:nvPr/>
        </p:nvSpPr>
        <p:spPr>
          <a:xfrm>
            <a:off x="8028186" y="3228777"/>
            <a:ext cx="3465711" cy="25400"/>
          </a:xfrm>
          <a:prstGeom prst="rect">
            <a:avLst/>
          </a:prstGeom>
          <a:solidFill>
            <a:srgbClr val="F5A3A3"/>
          </a:solidFill>
          <a:ln/>
        </p:spPr>
      </p:sp>
      <p:sp>
        <p:nvSpPr>
          <p:cNvPr id="21" name="Text 6"/>
          <p:cNvSpPr/>
          <p:nvPr/>
        </p:nvSpPr>
        <p:spPr>
          <a:xfrm>
            <a:off x="8028186" y="3379292"/>
            <a:ext cx="277246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Password hashing (bcrypt)</a:t>
            </a:r>
            <a:endParaRPr lang="en-US" sz="1833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8103" y="4046438"/>
            <a:ext cx="199430" cy="199430"/>
          </a:xfrm>
          <a:prstGeom prst="rect">
            <a:avLst/>
          </a:prstGeom>
        </p:spPr>
      </p:pic>
      <p:sp>
        <p:nvSpPr>
          <p:cNvPr id="23" name="Shape 7"/>
          <p:cNvSpPr/>
          <p:nvPr/>
        </p:nvSpPr>
        <p:spPr>
          <a:xfrm>
            <a:off x="698103" y="4335165"/>
            <a:ext cx="5298182" cy="25400"/>
          </a:xfrm>
          <a:prstGeom prst="rect">
            <a:avLst/>
          </a:prstGeom>
          <a:solidFill>
            <a:srgbClr val="F5A3A3"/>
          </a:solidFill>
          <a:ln/>
        </p:spPr>
      </p:sp>
      <p:sp>
        <p:nvSpPr>
          <p:cNvPr id="24" name="Text 8"/>
          <p:cNvSpPr/>
          <p:nvPr/>
        </p:nvSpPr>
        <p:spPr>
          <a:xfrm>
            <a:off x="698104" y="4485680"/>
            <a:ext cx="274597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Role-based access control</a:t>
            </a:r>
            <a:endParaRPr lang="en-US" sz="1833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95715" y="4046438"/>
            <a:ext cx="199430" cy="199430"/>
          </a:xfrm>
          <a:prstGeom prst="rect">
            <a:avLst/>
          </a:prstGeom>
        </p:spPr>
      </p:pic>
      <p:sp>
        <p:nvSpPr>
          <p:cNvPr id="26" name="Shape 9"/>
          <p:cNvSpPr/>
          <p:nvPr/>
        </p:nvSpPr>
        <p:spPr>
          <a:xfrm>
            <a:off x="6195715" y="4335165"/>
            <a:ext cx="5298182" cy="25400"/>
          </a:xfrm>
          <a:prstGeom prst="rect">
            <a:avLst/>
          </a:prstGeom>
          <a:solidFill>
            <a:srgbClr val="F5A3A3"/>
          </a:solidFill>
          <a:ln/>
        </p:spPr>
      </p:sp>
      <p:sp>
        <p:nvSpPr>
          <p:cNvPr id="27" name="Text 10"/>
          <p:cNvSpPr/>
          <p:nvPr/>
        </p:nvSpPr>
        <p:spPr>
          <a:xfrm>
            <a:off x="6195715" y="4485680"/>
            <a:ext cx="387608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Secure API handling (CORS, Helmet)</a:t>
            </a:r>
            <a:endParaRPr lang="en-US" sz="1833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DA10190-BAC6-1200-C15A-D4BA7B8AE5F7}"/>
              </a:ext>
            </a:extLst>
          </p:cNvPr>
          <p:cNvSpPr/>
          <p:nvPr/>
        </p:nvSpPr>
        <p:spPr>
          <a:xfrm>
            <a:off x="504083" y="935732"/>
            <a:ext cx="791755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Security &amp; Authentication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30106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012FDC-7484-2B3B-E496-144348256B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217700" y="3610281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0" name="Shape 1"/>
          <p:cNvSpPr/>
          <p:nvPr/>
        </p:nvSpPr>
        <p:spPr>
          <a:xfrm>
            <a:off x="554502" y="770690"/>
            <a:ext cx="4158734" cy="1220153"/>
          </a:xfrm>
          <a:prstGeom prst="roundRect">
            <a:avLst>
              <a:gd name="adj" fmla="val 11991"/>
            </a:avLst>
          </a:prstGeom>
          <a:solidFill>
            <a:srgbClr val="FFFAFA"/>
          </a:solidFill>
          <a:ln/>
        </p:spPr>
      </p:sp>
      <p:sp>
        <p:nvSpPr>
          <p:cNvPr id="13" name="Shape 2"/>
          <p:cNvSpPr/>
          <p:nvPr/>
        </p:nvSpPr>
        <p:spPr>
          <a:xfrm>
            <a:off x="554502" y="740210"/>
            <a:ext cx="4158734" cy="121920"/>
          </a:xfrm>
          <a:prstGeom prst="roundRect">
            <a:avLst>
              <a:gd name="adj" fmla="val 29451"/>
            </a:avLst>
          </a:prstGeom>
          <a:solidFill>
            <a:srgbClr val="F5A3A3"/>
          </a:solidFill>
          <a:ln/>
        </p:spPr>
      </p:sp>
      <p:sp>
        <p:nvSpPr>
          <p:cNvPr id="14" name="Shape 3"/>
          <p:cNvSpPr/>
          <p:nvPr/>
        </p:nvSpPr>
        <p:spPr>
          <a:xfrm>
            <a:off x="2286563" y="397548"/>
            <a:ext cx="718066" cy="718066"/>
          </a:xfrm>
          <a:prstGeom prst="roundRect">
            <a:avLst>
              <a:gd name="adj" fmla="val 127342"/>
            </a:avLst>
          </a:prstGeom>
          <a:solidFill>
            <a:srgbClr val="F5A3A3"/>
          </a:solidFill>
          <a:ln/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90160" y="627101"/>
            <a:ext cx="287179" cy="287179"/>
          </a:xfrm>
          <a:prstGeom prst="rect">
            <a:avLst/>
          </a:prstGeom>
        </p:spPr>
      </p:pic>
      <p:sp>
        <p:nvSpPr>
          <p:cNvPr id="16" name="Text 4"/>
          <p:cNvSpPr/>
          <p:nvPr/>
        </p:nvSpPr>
        <p:spPr>
          <a:xfrm>
            <a:off x="824297" y="136909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Frontend: Vercel</a:t>
            </a:r>
            <a:endParaRPr lang="en-US" sz="2200" dirty="0"/>
          </a:p>
        </p:txBody>
      </p:sp>
      <p:sp>
        <p:nvSpPr>
          <p:cNvPr id="17" name="Shape 5"/>
          <p:cNvSpPr/>
          <p:nvPr/>
        </p:nvSpPr>
        <p:spPr>
          <a:xfrm>
            <a:off x="709937" y="4814376"/>
            <a:ext cx="4158734" cy="1220153"/>
          </a:xfrm>
          <a:prstGeom prst="roundRect">
            <a:avLst>
              <a:gd name="adj" fmla="val 11991"/>
            </a:avLst>
          </a:prstGeom>
          <a:solidFill>
            <a:srgbClr val="FFFAFA"/>
          </a:solidFill>
          <a:ln/>
        </p:spPr>
      </p:sp>
      <p:sp>
        <p:nvSpPr>
          <p:cNvPr id="18" name="Shape 6"/>
          <p:cNvSpPr/>
          <p:nvPr/>
        </p:nvSpPr>
        <p:spPr>
          <a:xfrm>
            <a:off x="697972" y="4802618"/>
            <a:ext cx="4158734" cy="121920"/>
          </a:xfrm>
          <a:prstGeom prst="roundRect">
            <a:avLst>
              <a:gd name="adj" fmla="val 29451"/>
            </a:avLst>
          </a:prstGeom>
          <a:solidFill>
            <a:srgbClr val="F5A3A3"/>
          </a:solidFill>
          <a:ln/>
        </p:spPr>
      </p:sp>
      <p:sp>
        <p:nvSpPr>
          <p:cNvPr id="19" name="Shape 7"/>
          <p:cNvSpPr/>
          <p:nvPr/>
        </p:nvSpPr>
        <p:spPr>
          <a:xfrm>
            <a:off x="2430212" y="4455403"/>
            <a:ext cx="718066" cy="718066"/>
          </a:xfrm>
          <a:prstGeom prst="roundRect">
            <a:avLst>
              <a:gd name="adj" fmla="val 127342"/>
            </a:avLst>
          </a:prstGeom>
          <a:solidFill>
            <a:srgbClr val="F5A3A3"/>
          </a:solidFill>
          <a:ln/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45596" y="4670787"/>
            <a:ext cx="287179" cy="287179"/>
          </a:xfrm>
          <a:prstGeom prst="rect">
            <a:avLst/>
          </a:prstGeom>
        </p:spPr>
      </p:pic>
      <p:sp>
        <p:nvSpPr>
          <p:cNvPr id="21" name="Text 8"/>
          <p:cNvSpPr/>
          <p:nvPr/>
        </p:nvSpPr>
        <p:spPr>
          <a:xfrm>
            <a:off x="979733" y="5412784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Backend: Render</a:t>
            </a:r>
            <a:endParaRPr lang="en-US" sz="2200" dirty="0"/>
          </a:p>
        </p:txBody>
      </p:sp>
      <p:sp>
        <p:nvSpPr>
          <p:cNvPr id="22" name="Shape 9"/>
          <p:cNvSpPr/>
          <p:nvPr/>
        </p:nvSpPr>
        <p:spPr>
          <a:xfrm>
            <a:off x="7489052" y="2967335"/>
            <a:ext cx="4158853" cy="1220153"/>
          </a:xfrm>
          <a:prstGeom prst="roundRect">
            <a:avLst>
              <a:gd name="adj" fmla="val 11991"/>
            </a:avLst>
          </a:prstGeom>
          <a:solidFill>
            <a:srgbClr val="FFFAFA"/>
          </a:solidFill>
          <a:ln/>
        </p:spPr>
      </p:sp>
      <p:sp>
        <p:nvSpPr>
          <p:cNvPr id="23" name="Shape 10"/>
          <p:cNvSpPr/>
          <p:nvPr/>
        </p:nvSpPr>
        <p:spPr>
          <a:xfrm>
            <a:off x="7489052" y="2936855"/>
            <a:ext cx="4158853" cy="121920"/>
          </a:xfrm>
          <a:prstGeom prst="roundRect">
            <a:avLst>
              <a:gd name="adj" fmla="val 29451"/>
            </a:avLst>
          </a:prstGeom>
          <a:solidFill>
            <a:srgbClr val="F5A3A3"/>
          </a:solidFill>
          <a:ln/>
        </p:spPr>
      </p:sp>
      <p:sp>
        <p:nvSpPr>
          <p:cNvPr id="24" name="Shape 11"/>
          <p:cNvSpPr/>
          <p:nvPr/>
        </p:nvSpPr>
        <p:spPr>
          <a:xfrm>
            <a:off x="9209386" y="2572660"/>
            <a:ext cx="718066" cy="718066"/>
          </a:xfrm>
          <a:prstGeom prst="roundRect">
            <a:avLst>
              <a:gd name="adj" fmla="val 127342"/>
            </a:avLst>
          </a:prstGeom>
          <a:solidFill>
            <a:srgbClr val="F5A3A3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24830" y="2823746"/>
            <a:ext cx="287179" cy="287179"/>
          </a:xfrm>
          <a:prstGeom prst="rect">
            <a:avLst/>
          </a:prstGeom>
        </p:spPr>
      </p:pic>
      <p:sp>
        <p:nvSpPr>
          <p:cNvPr id="27" name="Text 12"/>
          <p:cNvSpPr/>
          <p:nvPr/>
        </p:nvSpPr>
        <p:spPr>
          <a:xfrm>
            <a:off x="7758848" y="3565743"/>
            <a:ext cx="3295174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Database: MongoDB Atlas</a:t>
            </a:r>
            <a:endParaRPr lang="en-US" sz="2200" dirty="0"/>
          </a:p>
        </p:txBody>
      </p:sp>
      <p:sp>
        <p:nvSpPr>
          <p:cNvPr id="28" name="Text 13"/>
          <p:cNvSpPr/>
          <p:nvPr/>
        </p:nvSpPr>
        <p:spPr>
          <a:xfrm>
            <a:off x="89135" y="6315574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👉</a:t>
            </a:r>
            <a:r>
              <a:rPr lang="en-US" sz="18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</a:t>
            </a:r>
            <a:r>
              <a:rPr lang="en-US" sz="1850" b="1" dirty="0">
                <a:solidFill>
                  <a:srgbClr val="F5A3A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Fully deployed real-world system</a:t>
            </a:r>
            <a:endParaRPr lang="en-US" sz="185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AD0CEA0-077E-98FB-3114-585F98E1E976}"/>
              </a:ext>
            </a:extLst>
          </p:cNvPr>
          <p:cNvSpPr/>
          <p:nvPr/>
        </p:nvSpPr>
        <p:spPr>
          <a:xfrm>
            <a:off x="2286563" y="3064529"/>
            <a:ext cx="387798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Deployment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48348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A485D43-627D-EDA5-D905-06D8E5E217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11" name="Text 1"/>
          <p:cNvSpPr/>
          <p:nvPr/>
        </p:nvSpPr>
        <p:spPr>
          <a:xfrm>
            <a:off x="3690560" y="1599226"/>
            <a:ext cx="13033296" cy="356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400" b="1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Compared to existing platforms:</a:t>
            </a:r>
            <a:endParaRPr lang="en-US" sz="2400" b="1" dirty="0"/>
          </a:p>
        </p:txBody>
      </p:sp>
      <p:sp>
        <p:nvSpPr>
          <p:cNvPr id="12" name="Text 2"/>
          <p:cNvSpPr/>
          <p:nvPr/>
        </p:nvSpPr>
        <p:spPr>
          <a:xfrm>
            <a:off x="4617216" y="2322620"/>
            <a:ext cx="3220998" cy="402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dirty="0">
                <a:solidFill>
                  <a:schemeClr val="accent1">
                    <a:lumMod val="50000"/>
                  </a:schemeClr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SnapFix offers:</a:t>
            </a:r>
            <a:endParaRPr lang="en-US" sz="25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4" name="Text 4"/>
          <p:cNvSpPr/>
          <p:nvPr/>
        </p:nvSpPr>
        <p:spPr>
          <a:xfrm>
            <a:off x="2057911" y="3386011"/>
            <a:ext cx="2684145" cy="335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Font typeface="Wingdings" panose="05000000000000000000" pitchFamily="2" charset="2"/>
              <a:buChar char="q"/>
            </a:pPr>
            <a:r>
              <a:rPr lang="en-US" sz="21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Real-time job tracking</a:t>
            </a:r>
            <a:endParaRPr lang="en-US" sz="2100" dirty="0"/>
          </a:p>
        </p:txBody>
      </p:sp>
      <p:sp>
        <p:nvSpPr>
          <p:cNvPr id="17" name="Text 6"/>
          <p:cNvSpPr/>
          <p:nvPr/>
        </p:nvSpPr>
        <p:spPr>
          <a:xfrm>
            <a:off x="2057911" y="4334105"/>
            <a:ext cx="2774394" cy="335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Font typeface="Wingdings" panose="05000000000000000000" pitchFamily="2" charset="2"/>
              <a:buChar char="q"/>
            </a:pPr>
            <a:r>
              <a:rPr lang="en-US" sz="21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Worker-side dashboard</a:t>
            </a:r>
            <a:endParaRPr lang="en-US" sz="2100" dirty="0"/>
          </a:p>
        </p:txBody>
      </p:sp>
      <p:sp>
        <p:nvSpPr>
          <p:cNvPr id="19" name="Text 8"/>
          <p:cNvSpPr/>
          <p:nvPr/>
        </p:nvSpPr>
        <p:spPr>
          <a:xfrm>
            <a:off x="2057911" y="5282200"/>
            <a:ext cx="2684145" cy="335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Font typeface="Wingdings" panose="05000000000000000000" pitchFamily="2" charset="2"/>
              <a:buChar char="q"/>
            </a:pPr>
            <a:r>
              <a:rPr lang="en-US" sz="21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Full admin control</a:t>
            </a:r>
            <a:endParaRPr lang="en-US" sz="2100" dirty="0"/>
          </a:p>
        </p:txBody>
      </p:sp>
      <p:sp>
        <p:nvSpPr>
          <p:cNvPr id="21" name="Text 10"/>
          <p:cNvSpPr/>
          <p:nvPr/>
        </p:nvSpPr>
        <p:spPr>
          <a:xfrm>
            <a:off x="6507052" y="3627178"/>
            <a:ext cx="2770942" cy="335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Font typeface="Wingdings" panose="05000000000000000000" pitchFamily="2" charset="2"/>
              <a:buChar char="q"/>
            </a:pPr>
            <a:r>
              <a:rPr lang="en-US" sz="21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Lightweight and fast UI</a:t>
            </a:r>
            <a:endParaRPr lang="en-US" sz="2100" dirty="0"/>
          </a:p>
        </p:txBody>
      </p:sp>
      <p:sp>
        <p:nvSpPr>
          <p:cNvPr id="23" name="Text 12"/>
          <p:cNvSpPr/>
          <p:nvPr/>
        </p:nvSpPr>
        <p:spPr>
          <a:xfrm>
            <a:off x="6507052" y="4575272"/>
            <a:ext cx="3594259" cy="335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Font typeface="Wingdings" panose="05000000000000000000" pitchFamily="2" charset="2"/>
              <a:buChar char="q"/>
            </a:pPr>
            <a:r>
              <a:rPr lang="en-US" sz="21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Scalable backend architecture</a:t>
            </a:r>
            <a:endParaRPr lang="en-US" sz="21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7108187-8DBC-5F31-DFA7-4C61F3824B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95046" y="7067211"/>
            <a:ext cx="1905266" cy="438211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D618BC34-BCD7-9191-179D-B1804644C2DA}"/>
              </a:ext>
            </a:extLst>
          </p:cNvPr>
          <p:cNvSpPr/>
          <p:nvPr/>
        </p:nvSpPr>
        <p:spPr>
          <a:xfrm>
            <a:off x="2143711" y="241378"/>
            <a:ext cx="841768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Comparison &amp; Advantages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59909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1"/>
          <p:cNvSpPr/>
          <p:nvPr/>
        </p:nvSpPr>
        <p:spPr>
          <a:xfrm>
            <a:off x="1482966" y="2712253"/>
            <a:ext cx="3457456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i="1" u="sng" dirty="0">
                <a:solidFill>
                  <a:schemeClr val="accent3">
                    <a:lumMod val="50000"/>
                  </a:schemeClr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SnapFix demonstrates:</a:t>
            </a:r>
            <a:endParaRPr lang="en-US" sz="3000" i="1" u="sng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3" name="Text 2"/>
          <p:cNvSpPr/>
          <p:nvPr/>
        </p:nvSpPr>
        <p:spPr>
          <a:xfrm>
            <a:off x="6095999" y="2375265"/>
            <a:ext cx="12954952" cy="1316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Full-stack development capability</a:t>
            </a:r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Secure and scalable system design</a:t>
            </a:r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Real-world deployment experience</a:t>
            </a:r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4" name="Text 3"/>
          <p:cNvSpPr/>
          <p:nvPr/>
        </p:nvSpPr>
        <p:spPr>
          <a:xfrm>
            <a:off x="1546188" y="4745855"/>
            <a:ext cx="3394234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i="1" u="sng" dirty="0">
                <a:solidFill>
                  <a:schemeClr val="accent3">
                    <a:lumMod val="50000"/>
                  </a:schemeClr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Future Enhancements:</a:t>
            </a:r>
            <a:endParaRPr lang="en-US" sz="3000" i="1" u="sng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6" name="Text 5"/>
          <p:cNvSpPr/>
          <p:nvPr/>
        </p:nvSpPr>
        <p:spPr>
          <a:xfrm>
            <a:off x="6348876" y="421610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accent6">
                    <a:lumMod val="50000"/>
                  </a:schemeClr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Payment integration</a:t>
            </a:r>
            <a:endParaRPr lang="en-US" sz="2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9" name="Text 7"/>
          <p:cNvSpPr/>
          <p:nvPr/>
        </p:nvSpPr>
        <p:spPr>
          <a:xfrm>
            <a:off x="6348875" y="465675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accent6">
                    <a:lumMod val="50000"/>
                  </a:schemeClr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Notifications</a:t>
            </a:r>
            <a:endParaRPr lang="en-US" sz="2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1" name="Text 9"/>
          <p:cNvSpPr/>
          <p:nvPr/>
        </p:nvSpPr>
        <p:spPr>
          <a:xfrm>
            <a:off x="6348876" y="5622248"/>
            <a:ext cx="288059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accent6">
                    <a:lumMod val="50000"/>
                  </a:schemeClr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Rating &amp; review system</a:t>
            </a:r>
            <a:endParaRPr lang="en-US" sz="2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3" name="Text 11"/>
          <p:cNvSpPr/>
          <p:nvPr/>
        </p:nvSpPr>
        <p:spPr>
          <a:xfrm>
            <a:off x="6348876" y="513784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accent6">
                    <a:lumMod val="50000"/>
                  </a:schemeClr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Mobile app support</a:t>
            </a:r>
            <a:endParaRPr lang="en-US" sz="2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2F81A4B-5080-183B-D98F-2D6BE2D56B82}"/>
              </a:ext>
            </a:extLst>
          </p:cNvPr>
          <p:cNvSpPr/>
          <p:nvPr/>
        </p:nvSpPr>
        <p:spPr>
          <a:xfrm>
            <a:off x="1790975" y="226121"/>
            <a:ext cx="861004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i="1" u="sng" cap="none" spc="0" dirty="0">
                <a:ln/>
                <a:solidFill>
                  <a:schemeClr val="accent3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Conclusion &amp; Future Scope</a:t>
            </a:r>
            <a:endParaRPr lang="en-US" sz="5400" i="1" u="sng" cap="none" spc="0" dirty="0">
              <a:ln/>
              <a:solidFill>
                <a:schemeClr val="accent3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37809529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jpeg"/></Relationships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{E0FFE608-F7B2-4035-810C-5BE8B02EC0D6}TF1ed9553b-00c4-4092-846a-c8f7f2908f3beecd942f_win32-8e33096c3cfc</Template>
  <TotalTime>44</TotalTime>
  <Words>263</Words>
  <Application>Microsoft Office PowerPoint</Application>
  <PresentationFormat>Widescreen</PresentationFormat>
  <Paragraphs>87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22" baseType="lpstr">
      <vt:lpstr>Arial</vt:lpstr>
      <vt:lpstr>Calibri</vt:lpstr>
      <vt:lpstr>Century Gothic</vt:lpstr>
      <vt:lpstr>Courier New</vt:lpstr>
      <vt:lpstr>Garamond</vt:lpstr>
      <vt:lpstr>Gill Sans Nova Light</vt:lpstr>
      <vt:lpstr>Red Hat Text</vt:lpstr>
      <vt:lpstr>Roboto Light</vt:lpstr>
      <vt:lpstr>Sagona Book</vt:lpstr>
      <vt:lpstr>Wingdings</vt:lpstr>
      <vt:lpstr>Custom</vt:lpstr>
      <vt:lpstr>Savon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Ritvika Surana</dc:creator>
  <cp:lastModifiedBy>Divyshree Saxena</cp:lastModifiedBy>
  <cp:revision>2</cp:revision>
  <dcterms:created xsi:type="dcterms:W3CDTF">2026-04-13T20:01:43Z</dcterms:created>
  <dcterms:modified xsi:type="dcterms:W3CDTF">2026-04-13T21:19:07Z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